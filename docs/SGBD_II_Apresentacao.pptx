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Américo abre a apresentação. Cumprimentar o docente e colegas. Apresentar o grupo e 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Américo apresenta a agenda. Mencionar brevemente cada secção (30 seg). Indicar que haverá tempo para questões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Bengui apresenta esta secção. Descrever o cenário: e-commerce de alta escala. Mencionar os problemas do modelo relacional. Destacar os 5 padrões de acesso mais importantes.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Bengui continua. Explicar o Teorema CAP com o triângulo. Justificar a escolha AP para e-commerce. Mencionar brevemente PACELC.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Egas apresenta esta secção. Explicar a estrutura do documento JSON. Destacar os campos obrigatórios e atributos_dinamicos. Mencionar a estratégia ESR de indexação.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Egas continua. Explicar a estratégia ESR (Equality → Sort → Range). Mostrar como o índice compound é usado em 3 fases. Mencionar os 10 índices criados.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Matondo apresenta esta secção. Descrever o ambiente Docker com replica set de 3 nós. Explicar o script Python de geração de dados. Mencionar as 100k documentos em 5 categorias.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Matondo continua. Percorrer as 6 queries uma a uma. Destacar a busca facetada como principal (60% do tráfego). Comparar latências com e sem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Hermenegildo apresenta esta secção. Discutir o cenário de crescimento 100x. Explicar o sharding por {categoria, preco}. Abordar limitações da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Hermenegildo conclui. Resumir os resultados alcançados. Agradecer ao docente e abrir espaço para questões.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0E0EF"/>
                </a:solidFill>
              </a:rPr>
              <a:t>UNIVERSIDADE KIMPA VITA  ·  Instituto Politécnico de Uíge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9144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Produtos Dinâmicos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Pesquisa Facetada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457200" y="2377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Modelação e Implementação utilizando MongoDB — SGBD NoSQL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80360"/>
            <a:ext cx="45720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29992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7AE"/>
                </a:solidFill>
              </a:rPr>
              <a:t>SGBD II  ·  Sistemas de Gestão de Bases de Dados II  ·  2025/2026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34015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Grupo: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367588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1. Américo Malungo Sebastião Miguel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388620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2. Bengui Bena Pedro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409651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3. Egas Manuel Ribeiro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430682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4. Matondo Domingos Bunga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" y="451713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5. Hermenegildo Wilson dos Santos Panzo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217920" y="4389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B97AE"/>
                </a:solidFill>
              </a:rPr>
              <a:t>Docente: Moyo Kanivengidio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217920" y="466344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97AE"/>
                </a:solidFill>
              </a:rPr>
              <a:t>Uíge, Maio de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AGENDA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Apresentação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990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77440" y="1344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0352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 &amp; Domínio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30352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Contexto do e-commerce de alta escala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200400" y="1234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99032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1344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364992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Justificação Tecnológica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364992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CAP Theorem • MongoDB vs Cassandra vs Elasticsearch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035040" y="12344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9903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0" y="13441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199632" y="18013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Modelação de Dados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199632" y="2148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Query-Driven Design • Embedding vs. Referência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36576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9923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377440" y="29443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530352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30352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Docker • Seeding 100k docs • 6 queries avançadas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3200400" y="283464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9923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12080" y="294436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05</a:t>
            </a:r>
            <a:endParaRPr lang="en-US" sz="2000" dirty="0"/>
          </a:p>
        </p:txBody>
      </p:sp>
      <p:sp>
        <p:nvSpPr>
          <p:cNvPr id="29" name="Text 21"/>
          <p:cNvSpPr/>
          <p:nvPr/>
        </p:nvSpPr>
        <p:spPr>
          <a:xfrm>
            <a:off x="3364992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&amp; Discussão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3364992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Performance • Escalabilidade • Tolerância a falhas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01 – PROBLEMA &amp; DOMÍNIO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Produtos de Alta Escala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Contexto do Problema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6420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6459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8"/>
                </a:solidFill>
              </a:rPr>
              <a:t>Gerir milhões de produtos com atributos heterogéneos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9456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176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8"/>
                </a:solidFill>
              </a:rPr>
              <a:t>Pesquisa facetada com múltiplos filtros simultâneos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24912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7066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8"/>
                </a:solidFill>
              </a:rPr>
              <a:t>Performance sub-segundo  (P99 &lt; 500ms)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55264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23697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8"/>
                </a:solidFill>
              </a:rPr>
              <a:t>Alta disponibilidade 24/7  (99,9% uptime)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85616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68680" y="37673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F4F8"/>
                </a:solidFill>
              </a:rPr>
              <a:t>Escalabilidade horizontal com crescimento de dados</a:t>
            </a:r>
            <a:endParaRPr lang="en-US" sz="1000" dirty="0"/>
          </a:p>
        </p:txBody>
      </p:sp>
      <p:sp>
        <p:nvSpPr>
          <p:cNvPr id="18" name="Shape 10"/>
          <p:cNvSpPr/>
          <p:nvPr/>
        </p:nvSpPr>
        <p:spPr>
          <a:xfrm>
            <a:off x="4663440" y="11430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1"/>
          <p:cNvSpPr/>
          <p:nvPr/>
        </p:nvSpPr>
        <p:spPr>
          <a:xfrm>
            <a:off x="4828032" y="12618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Padrões de Acesso (Query-Driven Design)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828032" y="1664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Busca Facetada</a:t>
            </a:r>
            <a:endParaRPr lang="en-US" sz="950" dirty="0"/>
          </a:p>
        </p:txBody>
      </p:sp>
      <p:sp>
        <p:nvSpPr>
          <p:cNvPr id="21" name="Text 13"/>
          <p:cNvSpPr/>
          <p:nvPr/>
        </p:nvSpPr>
        <p:spPr>
          <a:xfrm>
            <a:off x="7040880" y="166420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60%</a:t>
            </a:r>
            <a:endParaRPr lang="en-US" sz="950" dirty="0"/>
          </a:p>
        </p:txBody>
      </p:sp>
      <p:sp>
        <p:nvSpPr>
          <p:cNvPr id="22" name="Text 14"/>
          <p:cNvSpPr/>
          <p:nvPr/>
        </p:nvSpPr>
        <p:spPr>
          <a:xfrm>
            <a:off x="763524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97AE"/>
                </a:solidFill>
              </a:rPr>
              <a:t>500 req/s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4828032" y="1938528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1A3A5C"/>
          </a:solidFill>
          <a:ln/>
        </p:spPr>
      </p:sp>
      <p:sp>
        <p:nvSpPr>
          <p:cNvPr id="24" name="Shape 16"/>
          <p:cNvSpPr/>
          <p:nvPr/>
        </p:nvSpPr>
        <p:spPr>
          <a:xfrm>
            <a:off x="4828032" y="1938528"/>
            <a:ext cx="1865376" cy="109728"/>
          </a:xfrm>
          <a:prstGeom prst="roundRect">
            <a:avLst>
              <a:gd name="adj" fmla="val 41667"/>
            </a:avLst>
          </a:prstGeom>
          <a:solidFill>
            <a:srgbClr val="00B4D8"/>
          </a:solidFill>
          <a:ln/>
        </p:spPr>
      </p:sp>
      <p:sp>
        <p:nvSpPr>
          <p:cNvPr id="25" name="Text 17"/>
          <p:cNvSpPr/>
          <p:nvPr/>
        </p:nvSpPr>
        <p:spPr>
          <a:xfrm>
            <a:off x="4828032" y="21762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Detalhe de Produto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7040880" y="21762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20%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7635240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97AE"/>
                </a:solidFill>
              </a:rPr>
              <a:t>300 req/s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4828032" y="2450592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1A3A5C"/>
          </a:solidFill>
          <a:ln/>
        </p:spPr>
      </p:sp>
      <p:sp>
        <p:nvSpPr>
          <p:cNvPr id="29" name="Shape 21"/>
          <p:cNvSpPr/>
          <p:nvPr/>
        </p:nvSpPr>
        <p:spPr>
          <a:xfrm>
            <a:off x="4828032" y="2450592"/>
            <a:ext cx="621792" cy="109728"/>
          </a:xfrm>
          <a:prstGeom prst="roundRect">
            <a:avLst>
              <a:gd name="adj" fmla="val 41667"/>
            </a:avLst>
          </a:prstGeom>
          <a:solidFill>
            <a:srgbClr val="0096B7"/>
          </a:solidFill>
          <a:ln/>
        </p:spPr>
      </p:sp>
      <p:sp>
        <p:nvSpPr>
          <p:cNvPr id="30" name="Text 22"/>
          <p:cNvSpPr/>
          <p:nvPr/>
        </p:nvSpPr>
        <p:spPr>
          <a:xfrm>
            <a:off x="4828032" y="26883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Produtos Similares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040880" y="268833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10%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763524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97AE"/>
                </a:solidFill>
              </a:rPr>
              <a:t>100 req/s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828032" y="2962656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1A3A5C"/>
          </a:solidFill>
          <a:ln/>
        </p:spPr>
      </p:sp>
      <p:sp>
        <p:nvSpPr>
          <p:cNvPr id="34" name="Shape 26"/>
          <p:cNvSpPr/>
          <p:nvPr/>
        </p:nvSpPr>
        <p:spPr>
          <a:xfrm>
            <a:off x="4828032" y="2962656"/>
            <a:ext cx="310896" cy="109728"/>
          </a:xfrm>
          <a:prstGeom prst="roundRect">
            <a:avLst>
              <a:gd name="adj" fmla="val 41667"/>
            </a:avLst>
          </a:prstGeom>
          <a:solidFill>
            <a:srgbClr val="007A96"/>
          </a:solidFill>
          <a:ln/>
        </p:spPr>
      </p:sp>
      <p:sp>
        <p:nvSpPr>
          <p:cNvPr id="35" name="Text 27"/>
          <p:cNvSpPr/>
          <p:nvPr/>
        </p:nvSpPr>
        <p:spPr>
          <a:xfrm>
            <a:off x="4828032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Update de Stock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704088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5%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7635240" y="3200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97AE"/>
                </a:solidFill>
              </a:rPr>
              <a:t>80 req/s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4828032" y="3474720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1A3A5C"/>
          </a:solidFill>
          <a:ln/>
        </p:spPr>
      </p:sp>
      <p:sp>
        <p:nvSpPr>
          <p:cNvPr id="39" name="Shape 31"/>
          <p:cNvSpPr/>
          <p:nvPr/>
        </p:nvSpPr>
        <p:spPr>
          <a:xfrm>
            <a:off x="4828032" y="3474720"/>
            <a:ext cx="155448" cy="109728"/>
          </a:xfrm>
          <a:prstGeom prst="roundRect">
            <a:avLst>
              <a:gd name="adj" fmla="val 41667"/>
            </a:avLst>
          </a:prstGeom>
          <a:solidFill>
            <a:srgbClr val="005E75"/>
          </a:solidFill>
          <a:ln/>
        </p:spPr>
      </p:sp>
      <p:sp>
        <p:nvSpPr>
          <p:cNvPr id="40" name="Text 32"/>
          <p:cNvSpPr/>
          <p:nvPr/>
        </p:nvSpPr>
        <p:spPr>
          <a:xfrm>
            <a:off x="4828032" y="37124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CRUD Administrativo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7040880" y="37124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5%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7635240" y="37124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97AE"/>
                </a:solidFill>
              </a:rPr>
              <a:t>20 req/s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4828032" y="3986784"/>
            <a:ext cx="3108960" cy="109728"/>
          </a:xfrm>
          <a:prstGeom prst="roundRect">
            <a:avLst>
              <a:gd name="adj" fmla="val 41667"/>
            </a:avLst>
          </a:prstGeom>
          <a:solidFill>
            <a:srgbClr val="1A3A5C"/>
          </a:solidFill>
          <a:ln/>
        </p:spPr>
      </p:sp>
      <p:sp>
        <p:nvSpPr>
          <p:cNvPr id="44" name="Shape 36"/>
          <p:cNvSpPr/>
          <p:nvPr/>
        </p:nvSpPr>
        <p:spPr>
          <a:xfrm>
            <a:off x="4828032" y="3986784"/>
            <a:ext cx="155448" cy="109728"/>
          </a:xfrm>
          <a:prstGeom prst="roundRect">
            <a:avLst>
              <a:gd name="adj" fmla="val 41667"/>
            </a:avLst>
          </a:prstGeom>
          <a:solidFill>
            <a:srgbClr val="004254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02 – JUSTIFICAÇÃO TECNOLÓGICA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CAP — Escolha Arquitectural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286000" y="1554480"/>
            <a:ext cx="-1234440" cy="2057400"/>
          </a:xfrm>
          <a:prstGeom prst="line">
            <a:avLst/>
          </a:prstGeom>
          <a:noFill/>
          <a:ln w="254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3611880"/>
            <a:ext cx="2468880" cy="0"/>
          </a:xfrm>
          <a:prstGeom prst="line">
            <a:avLst/>
          </a:prstGeom>
          <a:noFill/>
          <a:ln w="254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20440" y="3611880"/>
            <a:ext cx="-1234440" cy="-2057400"/>
          </a:xfrm>
          <a:prstGeom prst="line">
            <a:avLst/>
          </a:prstGeom>
          <a:noFill/>
          <a:ln w="254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74520" y="1280160"/>
            <a:ext cx="822960" cy="502920"/>
          </a:xfrm>
          <a:prstGeom prst="ellipse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45920" y="12984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Consistency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(Consistência)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40080" y="3337560"/>
            <a:ext cx="822960" cy="5029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3355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Availability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(Disponibilidade)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108960" y="3337560"/>
            <a:ext cx="822960" cy="502920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80360" y="335584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Partition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Tolerance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83080" y="3017520"/>
            <a:ext cx="1005840" cy="548640"/>
          </a:xfrm>
          <a:prstGeom prst="ellipse">
            <a:avLst/>
          </a:prstGeom>
          <a:solidFill>
            <a:srgbClr val="007A0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78308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Escolhido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389120" y="1143000"/>
            <a:ext cx="438912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0" y="12527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Comparação de SGBDs NoSQL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17720" y="1645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Critério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623560" y="1645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MongoDB ✓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629400" y="1645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Cassandra ✗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635240" y="164592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Elastic ✗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617720" y="208483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4617720" y="2084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CAP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23560" y="208483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26" name="Text 23"/>
          <p:cNvSpPr/>
          <p:nvPr/>
        </p:nvSpPr>
        <p:spPr>
          <a:xfrm>
            <a:off x="5623560" y="2084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AP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629400" y="208483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6629400" y="2084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AP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635240" y="208483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30" name="Text 27"/>
          <p:cNvSpPr/>
          <p:nvPr/>
        </p:nvSpPr>
        <p:spPr>
          <a:xfrm>
            <a:off x="7635240" y="20848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AP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617720" y="2523744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4617720" y="25237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Schema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623560" y="2523744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34" name="Text 31"/>
          <p:cNvSpPr/>
          <p:nvPr/>
        </p:nvSpPr>
        <p:spPr>
          <a:xfrm>
            <a:off x="5623560" y="25237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Flexível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629400" y="2523744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36" name="Text 33"/>
          <p:cNvSpPr/>
          <p:nvPr/>
        </p:nvSpPr>
        <p:spPr>
          <a:xfrm>
            <a:off x="6629400" y="25237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Rígido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7635240" y="2523744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38" name="Text 35"/>
          <p:cNvSpPr/>
          <p:nvPr/>
        </p:nvSpPr>
        <p:spPr>
          <a:xfrm>
            <a:off x="7635240" y="252374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Flexível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617720" y="2962656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40" name="Text 37"/>
          <p:cNvSpPr/>
          <p:nvPr/>
        </p:nvSpPr>
        <p:spPr>
          <a:xfrm>
            <a:off x="4617720" y="29626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Atrib. Dinâmicos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5623560" y="2962656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42" name="Text 39"/>
          <p:cNvSpPr/>
          <p:nvPr/>
        </p:nvSpPr>
        <p:spPr>
          <a:xfrm>
            <a:off x="5623560" y="29626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✓ Nativo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6629400" y="2962656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44" name="Text 41"/>
          <p:cNvSpPr/>
          <p:nvPr/>
        </p:nvSpPr>
        <p:spPr>
          <a:xfrm>
            <a:off x="6629400" y="29626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✗ Difícil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7635240" y="2962656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46" name="Text 43"/>
          <p:cNvSpPr/>
          <p:nvPr/>
        </p:nvSpPr>
        <p:spPr>
          <a:xfrm>
            <a:off x="7635240" y="296265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✓ OK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4617720" y="3401568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48" name="Text 45"/>
          <p:cNvSpPr/>
          <p:nvPr/>
        </p:nvSpPr>
        <p:spPr>
          <a:xfrm>
            <a:off x="4617720" y="3401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Aggregation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5623560" y="3401568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50" name="Text 47"/>
          <p:cNvSpPr/>
          <p:nvPr/>
        </p:nvSpPr>
        <p:spPr>
          <a:xfrm>
            <a:off x="5623560" y="3401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✓ Pipeline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6629400" y="3401568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52" name="Text 49"/>
          <p:cNvSpPr/>
          <p:nvPr/>
        </p:nvSpPr>
        <p:spPr>
          <a:xfrm>
            <a:off x="6629400" y="3401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✗ Limitado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7635240" y="3401568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54" name="Text 51"/>
          <p:cNvSpPr/>
          <p:nvPr/>
        </p:nvSpPr>
        <p:spPr>
          <a:xfrm>
            <a:off x="7635240" y="34015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✓ Avançado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4617720" y="3840480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56" name="Text 53"/>
          <p:cNvSpPr/>
          <p:nvPr/>
        </p:nvSpPr>
        <p:spPr>
          <a:xfrm>
            <a:off x="4617720" y="38404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Source of Truth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5623560" y="3840480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58" name="Text 55"/>
          <p:cNvSpPr/>
          <p:nvPr/>
        </p:nvSpPr>
        <p:spPr>
          <a:xfrm>
            <a:off x="5623560" y="38404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✓ Primário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6629400" y="3840480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60" name="Text 57"/>
          <p:cNvSpPr/>
          <p:nvPr/>
        </p:nvSpPr>
        <p:spPr>
          <a:xfrm>
            <a:off x="6629400" y="38404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✓ Primário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7635240" y="3840480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62" name="Text 59"/>
          <p:cNvSpPr/>
          <p:nvPr/>
        </p:nvSpPr>
        <p:spPr>
          <a:xfrm>
            <a:off x="7635240" y="384048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✗ Secundário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4617720" y="427939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64" name="Text 61"/>
          <p:cNvSpPr/>
          <p:nvPr/>
        </p:nvSpPr>
        <p:spPr>
          <a:xfrm>
            <a:off x="4617720" y="4279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Latência</a:t>
            </a:r>
            <a:endParaRPr lang="en-US" sz="750" dirty="0"/>
          </a:p>
        </p:txBody>
      </p:sp>
      <p:sp>
        <p:nvSpPr>
          <p:cNvPr id="65" name="Shape 62"/>
          <p:cNvSpPr/>
          <p:nvPr/>
        </p:nvSpPr>
        <p:spPr>
          <a:xfrm>
            <a:off x="5623560" y="427939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1A5C2A"/>
          </a:solidFill>
          <a:ln/>
        </p:spPr>
      </p:sp>
      <p:sp>
        <p:nvSpPr>
          <p:cNvPr id="66" name="Text 63"/>
          <p:cNvSpPr/>
          <p:nvPr/>
        </p:nvSpPr>
        <p:spPr>
          <a:xfrm>
            <a:off x="5623560" y="4279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FF88"/>
                </a:solidFill>
              </a:rPr>
              <a:t>100-200ms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6629400" y="427939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68" name="Text 65"/>
          <p:cNvSpPr/>
          <p:nvPr/>
        </p:nvSpPr>
        <p:spPr>
          <a:xfrm>
            <a:off x="6629400" y="4279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10-50ms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7635240" y="4279392"/>
            <a:ext cx="960120" cy="329184"/>
          </a:xfrm>
          <a:prstGeom prst="roundRect">
            <a:avLst>
              <a:gd name="adj" fmla="val 11111"/>
            </a:avLst>
          </a:prstGeom>
          <a:solidFill>
            <a:srgbClr val="2A1A1A"/>
          </a:solidFill>
          <a:ln/>
        </p:spPr>
      </p:sp>
      <p:sp>
        <p:nvSpPr>
          <p:cNvPr id="70" name="Text 67"/>
          <p:cNvSpPr/>
          <p:nvPr/>
        </p:nvSpPr>
        <p:spPr>
          <a:xfrm>
            <a:off x="7635240" y="42793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AF4F8"/>
                </a:solidFill>
              </a:rPr>
              <a:t>50-100ms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03 – MODELAÇÃO DE DADOS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Query-Driven Design — Estrutura do Documento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66344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527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Documento MongoDB — Smartphone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61848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2920" y="186080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7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ObjectId("507f1f77..."),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210312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"sku": "ELE-SAMSUNG-A50-001",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2920" y="2345436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"categoria": "Eletrônicos",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2920" y="2587752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"preco": 45000.0,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2920" y="283006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"em_stock": true,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307238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"atributos_dinamicos": {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920" y="331470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"marca": "Samsung",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" y="3557016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"ram": "4GB",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02920" y="3799332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"armazenamento": "128GB"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" y="4041648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2920" y="4283964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"avaliacao": { "rating_medio": 4.5, ... }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2920" y="4526280"/>
            <a:ext cx="4389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14300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A3A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6672" y="1252728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687568" y="12527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Padrão EMBEDDING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376672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atributos_dinamicos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376672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imagens (array)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376672" y="21214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avaliacao (resumo)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376672" y="23957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vendas (estatísticas)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5376672" y="271576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Elimina JOINs → optimiza reads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212080" y="297180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3A1A1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3081528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687568" y="30815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Padrão REFERÊNCIA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376672" y="3401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reviews (1000+ por produto)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376672" y="36758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• fornecedor (dados extensos)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376672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Evita array explosion → crescimento ilimitado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03 – MODELAÇÃO DE DADOS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Índices Otimizados — Estratégia ESR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06B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261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 –  Equality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 = "Eletrônicos"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063240" y="1508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91840" y="11430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007A5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29000" y="1261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–  Sort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rating_medio  (desc)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97880" y="1508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26480" y="11430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7A5E0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63640" y="12618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 –  Range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  5000 – 50000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25420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15-35× mais rápido  |  145ms vs 2000ms sem índice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2926080"/>
            <a:ext cx="8412480" cy="1874520"/>
          </a:xfrm>
          <a:prstGeom prst="roundRect">
            <a:avLst>
              <a:gd name="adj" fmla="val 4878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035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10 Índices Estratégicos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34015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1. 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68680" y="3401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SKU (unique)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154680" y="340156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Lookups directos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48640" y="367588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2. 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68680" y="3675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Categoria (B-Tree)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154680" y="36758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Filtro principal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8640" y="39502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3. 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68680" y="3950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Preço (B-Tree)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15468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Range queries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" y="42245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4. 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86868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Rating (B-Tree)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154680" y="4224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Ordenação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48640" y="44988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5. 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68680" y="4498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Compound: cat+preço+rating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154680" y="4498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Busca facetada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754880" y="34015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6. 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74920" y="3401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Em Stock (B-Tree)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60920" y="340156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Disponibilidade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754880" y="367588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7. 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74920" y="36758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Full-Text: nome+desc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360920" y="36758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Pesquisa textual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54880" y="395020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8. 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5074920" y="39502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Atrib. dinâmicos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360920" y="39502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Filtros secundários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754880" y="422452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9. 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5074920" y="4224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 criação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7360920" y="4224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Produtos novos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754880" y="449884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10. 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5074920" y="4498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Produtos activos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360920" y="4498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— Soft delete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04 – IMPLEMENTAÇÃO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Ambiente, Dados e Arquitectura Docker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52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Arquitectura Docker — Replica Set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94360" y="169164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006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1691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PRIMARY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(mongo1:27017)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801368" y="19659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</a:rPr>
              <a:t>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920240" y="169164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00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20240" y="1691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SECONDARY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(mongo2:27018)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127248" y="1965960"/>
            <a:ext cx="109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</a:rPr>
              <a:t>⇄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1188720" cy="822960"/>
          </a:xfrm>
          <a:prstGeom prst="roundRect">
            <a:avLst>
              <a:gd name="adj" fmla="val 8889"/>
            </a:avLst>
          </a:prstGeom>
          <a:solidFill>
            <a:srgbClr val="005A8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46120" y="16916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SECONDARY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(mongo3:27019)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292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0E0EF"/>
                </a:solidFill>
              </a:rPr>
              <a:t>Failover automático em &lt; 15 seg  |  RTO &lt; 30 seg  |  RPO &lt; 5 seg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48640" y="2999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Stack Tecnológico: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331012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3101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MongoDB 7.0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2103120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8"/>
                </a:solidFill>
              </a:rPr>
              <a:t>Containers Docker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490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Python 3.9+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103120" y="3776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8"/>
                </a:solidFill>
              </a:rPr>
              <a:t>Geração de dados (Faker)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8640" y="4187952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4187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mongosh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2103120" y="42153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F4F8"/>
                </a:solidFill>
              </a:rPr>
              <a:t>Execução de queries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663440" y="11430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846320" y="1252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Dados Gerados — 100.000 Documentos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46320" y="1664208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Vestuário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858000" y="1664208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30,000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46320" y="1920240"/>
            <a:ext cx="3108960" cy="13716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32" name="Shape 29"/>
          <p:cNvSpPr/>
          <p:nvPr/>
        </p:nvSpPr>
        <p:spPr>
          <a:xfrm>
            <a:off x="4846320" y="1920240"/>
            <a:ext cx="932688" cy="13716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33" name="Text 30"/>
          <p:cNvSpPr/>
          <p:nvPr/>
        </p:nvSpPr>
        <p:spPr>
          <a:xfrm>
            <a:off x="4846320" y="2194560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Eletrônicos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858000" y="219456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20,000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46320" y="2450592"/>
            <a:ext cx="3108960" cy="13716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36" name="Shape 33"/>
          <p:cNvSpPr/>
          <p:nvPr/>
        </p:nvSpPr>
        <p:spPr>
          <a:xfrm>
            <a:off x="4846320" y="2450592"/>
            <a:ext cx="621792" cy="13716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37" name="Text 34"/>
          <p:cNvSpPr/>
          <p:nvPr/>
        </p:nvSpPr>
        <p:spPr>
          <a:xfrm>
            <a:off x="4846320" y="27249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Casa e Cozinha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858000" y="2724912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20,000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846320" y="2980944"/>
            <a:ext cx="3108960" cy="13716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40" name="Shape 37"/>
          <p:cNvSpPr/>
          <p:nvPr/>
        </p:nvSpPr>
        <p:spPr>
          <a:xfrm>
            <a:off x="4846320" y="2980944"/>
            <a:ext cx="621792" cy="13716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255264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Livros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858000" y="3255264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15,000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846320" y="3511296"/>
            <a:ext cx="3108960" cy="13716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44" name="Shape 41"/>
          <p:cNvSpPr/>
          <p:nvPr/>
        </p:nvSpPr>
        <p:spPr>
          <a:xfrm>
            <a:off x="4846320" y="3511296"/>
            <a:ext cx="466344" cy="13716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45" name="Text 42"/>
          <p:cNvSpPr/>
          <p:nvPr/>
        </p:nvSpPr>
        <p:spPr>
          <a:xfrm>
            <a:off x="4846320" y="3785616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F4F8"/>
                </a:solidFill>
              </a:rPr>
              <a:t>Desportos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6858000" y="3785616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15,000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846320" y="4041648"/>
            <a:ext cx="3108960" cy="13716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48" name="Shape 45"/>
          <p:cNvSpPr/>
          <p:nvPr/>
        </p:nvSpPr>
        <p:spPr>
          <a:xfrm>
            <a:off x="4846320" y="4041648"/>
            <a:ext cx="466344" cy="137160"/>
          </a:xfrm>
          <a:prstGeom prst="roundRect">
            <a:avLst>
              <a:gd name="adj" fmla="val 40000"/>
            </a:avLst>
          </a:prstGeom>
          <a:solidFill>
            <a:srgbClr val="00B4D8"/>
          </a:solidFill>
          <a:ln/>
        </p:spPr>
      </p:sp>
      <p:sp>
        <p:nvSpPr>
          <p:cNvPr id="49" name="Text 46"/>
          <p:cNvSpPr/>
          <p:nvPr/>
        </p:nvSpPr>
        <p:spPr>
          <a:xfrm>
            <a:off x="484632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0E0EF"/>
                </a:solidFill>
              </a:rPr>
              <a:t>Performance seeding: ~33.000 docs/seg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0E0EF"/>
                </a:solidFill>
              </a:rPr>
              <a:t>Tempo total inserção: ~3 minutos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04 – IMPLEMENTAÇÃO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Queries Avançadas — Resultados de Latência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" y="125272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1560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Facetada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0" y="1252728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7A5E00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252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145ms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" y="1645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60% tráfego | índice compound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5488" y="2020824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14" name="Shape 11"/>
          <p:cNvSpPr/>
          <p:nvPr/>
        </p:nvSpPr>
        <p:spPr>
          <a:xfrm>
            <a:off x="475488" y="2020824"/>
            <a:ext cx="2280514" cy="91440"/>
          </a:xfrm>
          <a:prstGeom prst="roundRect">
            <a:avLst>
              <a:gd name="adj" fmla="val 40000"/>
            </a:avLst>
          </a:prstGeom>
          <a:solidFill>
            <a:srgbClr val="7A5E0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2441448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" y="255117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" y="25511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51560" y="25511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Agregação por Categoria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0" y="2551176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7A1A00"/>
          </a:solidFill>
          <a:ln/>
        </p:spPr>
      </p:sp>
      <p:sp>
        <p:nvSpPr>
          <p:cNvPr id="20" name="Text 17"/>
          <p:cNvSpPr/>
          <p:nvPr/>
        </p:nvSpPr>
        <p:spPr>
          <a:xfrm>
            <a:off x="3657600" y="25511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235ms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1560" y="2944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$group + $sort pipeline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" y="3319272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488" y="3319272"/>
            <a:ext cx="3696005" cy="91440"/>
          </a:xfrm>
          <a:prstGeom prst="roundRect">
            <a:avLst>
              <a:gd name="adj" fmla="val 40000"/>
            </a:avLst>
          </a:prstGeom>
          <a:solidFill>
            <a:srgbClr val="7A1A00"/>
          </a:solidFill>
          <a:ln/>
        </p:spPr>
      </p:sp>
      <p:sp>
        <p:nvSpPr>
          <p:cNvPr id="24" name="Shape 21"/>
          <p:cNvSpPr/>
          <p:nvPr/>
        </p:nvSpPr>
        <p:spPr>
          <a:xfrm>
            <a:off x="365760" y="3739896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" y="38496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26" name="Text 23"/>
          <p:cNvSpPr/>
          <p:nvPr/>
        </p:nvSpPr>
        <p:spPr>
          <a:xfrm>
            <a:off x="475488" y="3849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51560" y="38496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Full-Text Search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657600" y="3849624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007A00"/>
          </a:solidFill>
          <a:ln/>
        </p:spPr>
      </p:sp>
      <p:sp>
        <p:nvSpPr>
          <p:cNvPr id="29" name="Text 26"/>
          <p:cNvSpPr/>
          <p:nvPr/>
        </p:nvSpPr>
        <p:spPr>
          <a:xfrm>
            <a:off x="3657600" y="38496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78ms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51560" y="4242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text index (nome, desc, tags)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75488" y="4617720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32" name="Shape 29"/>
          <p:cNvSpPr/>
          <p:nvPr/>
        </p:nvSpPr>
        <p:spPr>
          <a:xfrm>
            <a:off x="475488" y="4617720"/>
            <a:ext cx="1226759" cy="91440"/>
          </a:xfrm>
          <a:prstGeom prst="roundRect">
            <a:avLst>
              <a:gd name="adj" fmla="val 40000"/>
            </a:avLst>
          </a:prstGeom>
          <a:solidFill>
            <a:srgbClr val="007A0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00600" y="1143000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910328" y="1252728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35" name="Text 32"/>
          <p:cNvSpPr/>
          <p:nvPr/>
        </p:nvSpPr>
        <p:spPr>
          <a:xfrm>
            <a:off x="4910328" y="12527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Q4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486400" y="12527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Dinâmicos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8092440" y="1252728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7A5E00"/>
          </a:solidFill>
          <a:ln/>
        </p:spPr>
      </p:sp>
      <p:sp>
        <p:nvSpPr>
          <p:cNvPr id="38" name="Text 35"/>
          <p:cNvSpPr/>
          <p:nvPr/>
        </p:nvSpPr>
        <p:spPr>
          <a:xfrm>
            <a:off x="8092440" y="125272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102ms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486400" y="1645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Marca + RAM + Armazém + Rating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4910328" y="2020824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41" name="Shape 38"/>
          <p:cNvSpPr/>
          <p:nvPr/>
        </p:nvSpPr>
        <p:spPr>
          <a:xfrm>
            <a:off x="4910328" y="2020824"/>
            <a:ext cx="1604223" cy="91440"/>
          </a:xfrm>
          <a:prstGeom prst="roundRect">
            <a:avLst>
              <a:gd name="adj" fmla="val 40000"/>
            </a:avLst>
          </a:prstGeom>
          <a:solidFill>
            <a:srgbClr val="7A5E00"/>
          </a:solidFill>
          <a:ln/>
        </p:spPr>
      </p:sp>
      <p:sp>
        <p:nvSpPr>
          <p:cNvPr id="42" name="Shape 39"/>
          <p:cNvSpPr/>
          <p:nvPr/>
        </p:nvSpPr>
        <p:spPr>
          <a:xfrm>
            <a:off x="4800600" y="2441448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910328" y="2551176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44" name="Text 41"/>
          <p:cNvSpPr/>
          <p:nvPr/>
        </p:nvSpPr>
        <p:spPr>
          <a:xfrm>
            <a:off x="4910328" y="255117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486400" y="25511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Rentabilidade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092440" y="2551176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7A5E00"/>
          </a:solidFill>
          <a:ln/>
        </p:spPr>
      </p:sp>
      <p:sp>
        <p:nvSpPr>
          <p:cNvPr id="47" name="Text 44"/>
          <p:cNvSpPr/>
          <p:nvPr/>
        </p:nvSpPr>
        <p:spPr>
          <a:xfrm>
            <a:off x="8092440" y="255117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189ms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486400" y="2944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Margens por categoria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910328" y="3319272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50" name="Shape 47"/>
          <p:cNvSpPr/>
          <p:nvPr/>
        </p:nvSpPr>
        <p:spPr>
          <a:xfrm>
            <a:off x="4910328" y="3319272"/>
            <a:ext cx="2972532" cy="91440"/>
          </a:xfrm>
          <a:prstGeom prst="roundRect">
            <a:avLst>
              <a:gd name="adj" fmla="val 40000"/>
            </a:avLst>
          </a:prstGeom>
          <a:solidFill>
            <a:srgbClr val="7A5E00"/>
          </a:solidFill>
          <a:ln/>
        </p:spPr>
      </p:sp>
      <p:sp>
        <p:nvSpPr>
          <p:cNvPr id="51" name="Shape 48"/>
          <p:cNvSpPr/>
          <p:nvPr/>
        </p:nvSpPr>
        <p:spPr>
          <a:xfrm>
            <a:off x="4800600" y="3739896"/>
            <a:ext cx="420624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910328" y="3849624"/>
            <a:ext cx="50292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/>
        </p:spPr>
      </p:sp>
      <p:sp>
        <p:nvSpPr>
          <p:cNvPr id="53" name="Text 50"/>
          <p:cNvSpPr/>
          <p:nvPr/>
        </p:nvSpPr>
        <p:spPr>
          <a:xfrm>
            <a:off x="4910328" y="3849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Q6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486400" y="38496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8092440" y="3849624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007A00"/>
          </a:solidFill>
          <a:ln/>
        </p:spPr>
      </p:sp>
      <p:sp>
        <p:nvSpPr>
          <p:cNvPr id="56" name="Text 53"/>
          <p:cNvSpPr/>
          <p:nvPr/>
        </p:nvSpPr>
        <p:spPr>
          <a:xfrm>
            <a:off x="8092440" y="384962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68ms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486400" y="424281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0E0EF"/>
                </a:solidFill>
              </a:rPr>
              <a:t>±20% preço, mesma categoria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4910328" y="4617720"/>
            <a:ext cx="3931920" cy="91440"/>
          </a:xfrm>
          <a:prstGeom prst="roundRect">
            <a:avLst>
              <a:gd name="adj" fmla="val 40000"/>
            </a:avLst>
          </a:prstGeom>
          <a:solidFill>
            <a:srgbClr val="1A3A5C"/>
          </a:solidFill>
          <a:ln/>
        </p:spPr>
      </p:sp>
      <p:sp>
        <p:nvSpPr>
          <p:cNvPr id="59" name="Shape 56"/>
          <p:cNvSpPr/>
          <p:nvPr/>
        </p:nvSpPr>
        <p:spPr>
          <a:xfrm>
            <a:off x="4910328" y="4617720"/>
            <a:ext cx="1069482" cy="91440"/>
          </a:xfrm>
          <a:prstGeom prst="roundRect">
            <a:avLst>
              <a:gd name="adj" fmla="val 40000"/>
            </a:avLst>
          </a:prstGeom>
          <a:solidFill>
            <a:srgbClr val="007A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05 – RESULTADOS &amp; DISCUSSÃO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Escalabilidade e Tolerância a Falhas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5272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Cenário: Crescimento 100×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48640" y="166420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85800" y="1709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Actual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4592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100k produtos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926080" y="17099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1k/s req/s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48640" y="235000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A4A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85800" y="23957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100×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645920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10M produtos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926080" y="23957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</a:rPr>
              <a:t>100k/s req/s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48640" y="31272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Sharding por shard key: { categoria, preço }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8640" y="34564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10 shards → 10× throughput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Latência mantida constante (~100-200ms)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48640" y="3931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</a:rPr>
              <a:t>Limitações: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54864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7AE"/>
                </a:solidFill>
              </a:rPr>
              <a:t>• Shard key imutável após criação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548640" y="4443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7AE"/>
                </a:solidFill>
              </a:rPr>
              <a:t>• Queries sem shard key visitam todos os shards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48640" y="46817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7AE"/>
                </a:solidFill>
              </a:rPr>
              <a:t>• Transações distribuídas — complexidade adicional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663440" y="114300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52728"/>
            <a:ext cx="292608" cy="29260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93792" y="12618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Tolerância a Falhas — Failover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846320" y="1664208"/>
            <a:ext cx="320040" cy="320040"/>
          </a:xfrm>
          <a:prstGeom prst="ellipse">
            <a:avLst/>
          </a:prstGeom>
          <a:solidFill>
            <a:srgbClr val="AA0000"/>
          </a:solidFill>
          <a:ln/>
        </p:spPr>
      </p:sp>
      <p:sp>
        <p:nvSpPr>
          <p:cNvPr id="27" name="Text 22"/>
          <p:cNvSpPr/>
          <p:nvPr/>
        </p:nvSpPr>
        <p:spPr>
          <a:xfrm>
            <a:off x="4846320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5230368" y="16916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Nó PRIMARY falha (hardware ou rede)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846320" y="212140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5"/>
          <p:cNvSpPr/>
          <p:nvPr/>
        </p:nvSpPr>
        <p:spPr>
          <a:xfrm>
            <a:off x="4846320" y="21214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5230368" y="21488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Eleição automática em 10-15 segundos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846320" y="257860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8"/>
          <p:cNvSpPr/>
          <p:nvPr/>
        </p:nvSpPr>
        <p:spPr>
          <a:xfrm>
            <a:off x="484632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230368" y="26060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Nó SECONDARY promovido a PRIMARY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846320" y="303580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1"/>
          <p:cNvSpPr/>
          <p:nvPr/>
        </p:nvSpPr>
        <p:spPr>
          <a:xfrm>
            <a:off x="484632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230368" y="30632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Writes continuam sem interrupção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846320" y="349300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9" name="Text 34"/>
          <p:cNvSpPr/>
          <p:nvPr/>
        </p:nvSpPr>
        <p:spPr>
          <a:xfrm>
            <a:off x="484632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5230368" y="352044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Nó recuperado sincroniza automaticamente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846320" y="4005072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06B2A"/>
          </a:solidFill>
          <a:ln/>
        </p:spPr>
      </p:sp>
      <p:sp>
        <p:nvSpPr>
          <p:cNvPr id="42" name="Text 37"/>
          <p:cNvSpPr/>
          <p:nvPr/>
        </p:nvSpPr>
        <p:spPr>
          <a:xfrm>
            <a:off x="484632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Downtime: ~15 seg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6858000" y="4005072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06B2A"/>
          </a:solidFill>
          <a:ln/>
        </p:spPr>
      </p:sp>
      <p:sp>
        <p:nvSpPr>
          <p:cNvPr id="44" name="Text 39"/>
          <p:cNvSpPr/>
          <p:nvPr/>
        </p:nvSpPr>
        <p:spPr>
          <a:xfrm>
            <a:off x="6858000" y="4005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Dados perdidos: Nenhum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846320" y="438912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06B2A"/>
          </a:solidFill>
          <a:ln/>
        </p:spPr>
      </p:sp>
      <p:sp>
        <p:nvSpPr>
          <p:cNvPr id="46" name="Text 41"/>
          <p:cNvSpPr/>
          <p:nvPr/>
        </p:nvSpPr>
        <p:spPr>
          <a:xfrm>
            <a:off x="48463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RTO: &lt; 30 seg</a:t>
            </a:r>
            <a:endParaRPr lang="en-US" sz="850" dirty="0"/>
          </a:p>
        </p:txBody>
      </p:sp>
      <p:sp>
        <p:nvSpPr>
          <p:cNvPr id="47" name="Shape 42"/>
          <p:cNvSpPr/>
          <p:nvPr/>
        </p:nvSpPr>
        <p:spPr>
          <a:xfrm>
            <a:off x="6858000" y="4389120"/>
            <a:ext cx="1828800" cy="320040"/>
          </a:xfrm>
          <a:prstGeom prst="roundRect">
            <a:avLst>
              <a:gd name="adj" fmla="val 17143"/>
            </a:avLst>
          </a:prstGeom>
          <a:solidFill>
            <a:srgbClr val="006B2A"/>
          </a:solidFill>
          <a:ln/>
        </p:spPr>
      </p:sp>
      <p:sp>
        <p:nvSpPr>
          <p:cNvPr id="48" name="Text 43"/>
          <p:cNvSpPr/>
          <p:nvPr/>
        </p:nvSpPr>
        <p:spPr>
          <a:xfrm>
            <a:off x="68580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RPO: &lt; 5 seg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90E0EF">
              <a:alpha val="10000"/>
            </a:srgbClr>
          </a:solidFill>
          <a:ln w="12700">
            <a:solidFill>
              <a:srgbClr val="90E0EF">
                <a:alpha val="1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64592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CONCLUSÃO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Alcançados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1371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MongoDB AP — disponibilidade e tolerância a partições garantidas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24048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3347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2542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Desnormalização estratégica: embedding vs. referência justificados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65760" y="357530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03904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71246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Busca facetada: 145ms (vs. 2-5s em SGBD relacional)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800600" y="123444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49240" y="13716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Failover automático em &lt; 15 segundos — RTO &lt; 30s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800600" y="2404872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33472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349240" y="2542032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Escalabilidade 100× via sharding automático por {categoria, preço}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4800600" y="3575304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803904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49240" y="3712464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4F8"/>
                </a:solidFill>
              </a:rPr>
              <a:t>100.000 documentos realistas em 5 categorias com 10 índices otimizados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"A excelência na engenharia de dados não reside apenas em conhecer as ferramentas,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7B97AE"/>
                </a:solidFill>
              </a:rPr>
              <a:t>mas em saber exactamente quando e porquê utilizá-las."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SGBD II – Catálogo de Produtos NoSQL</dc:title>
  <dc:subject>PptxGenJS Presentation</dc:subject>
  <dc:creator>PptxGenJS</dc:creator>
  <cp:lastModifiedBy>PptxGenJS</cp:lastModifiedBy>
  <cp:revision>1</cp:revision>
  <dcterms:created xsi:type="dcterms:W3CDTF">2026-06-10T20:18:48Z</dcterms:created>
  <dcterms:modified xsi:type="dcterms:W3CDTF">2026-06-10T20:18:48Z</dcterms:modified>
</cp:coreProperties>
</file>